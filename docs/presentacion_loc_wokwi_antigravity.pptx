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Lab-on-a-Chip (LOC) &amp; Micro-HPLC Virtual</a:t>
            </a:r>
          </a:p>
          <a:p>
            <a:r>
              <a:t>Diseño, Simulación e Implementación de Instrumentación Analítica de Bajo Coste con Arduino Uno, Wokwi y Antigravity 2.0</a:t>
            </a:r>
          </a:p>
          <a:p/>
          <a:p>
            <a:r>
              <a:t>BIENVENIDA Y PROPÓSITO:</a:t>
            </a:r>
          </a:p>
          <a:p>
            <a:r>
              <a:t>La instrumentación científica tradicional suele ser una 'caja negra' inaccesible para los alumnos por su alto coste.</a:t>
            </a:r>
          </a:p>
          <a:p>
            <a:r>
              <a:t>En esta sesión demostramos cómo, mediante la combinación de un simulador embebido en la nube (Wokwi), un copiloto de inteligencia artificial (Antigravity 2.0) y un Custom Chip en C/WASM, es posible diseñar y validar un cromatógrafo líquido completo antes de comprar un solo componente, pudiendo luego transferirlo a hardware físico por menos de 80 €.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Problemática en la Enseñanza de Instrumentación Analítica</a:t>
            </a:r>
          </a:p>
          <a:p>
            <a:r>
              <a:t>¿Por qué los estudiantes no interactúan a fondo con cromatógrafos reales?</a:t>
            </a:r>
          </a:p>
          <a:p/>
          <a:p>
            <a:r>
              <a:t>PUNTOS CLAVE PARA EL PONENTE:</a:t>
            </a:r>
          </a:p>
          <a:p>
            <a:r>
              <a:t>1. Barrera económica: Un HPLC comercial de grado analítico cuesta entre 20.000 € y 80.000 €. En la universidad, un solo equipo debe compartirse entre decenas de alumnos, limitándose a demostraciones pasivas.</a:t>
            </a:r>
          </a:p>
          <a:p>
            <a:r>
              <a:t>2. Miedo al error: Romper una cubeta de cuarzo o sobrepresionar una bomba de zafiro cuesta miles de euros.</a:t>
            </a:r>
          </a:p>
          <a:p>
            <a:r>
              <a:t>3. Simuladores clásicos: Tinkercad o Wokwi básico solo tienen potenciómetros y pulsadores; carecen de fluidos, cinética química o dispersión cromatográfica.</a:t>
            </a:r>
          </a:p>
          <a:p>
            <a:r>
              <a:t>4. La solución: Desarrollar un 'Gemelo Digital Físico-Químico' que modele la química real dentro del simulador.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Ecosistema Tecnológico: Wokwi + Antigravity 2.0</a:t>
            </a:r>
          </a:p>
          <a:p>
            <a:r>
              <a:t>Plataforma de simulación de ciclo de reloj + Copiloto de IA de ingeniería</a:t>
            </a:r>
          </a:p>
          <a:p/>
          <a:p>
            <a:r>
              <a:t>SINERGIA TECNOLÓGICA:</a:t>
            </a:r>
          </a:p>
          <a:p>
            <a:r>
              <a:t>- Wokwi: Emula fielmente el microcontrolador ATmega328P de Arduino Uno, driver A4988, buses I2C y SPI. Su gran ventaja competitiva es el soporte de Custom Chips en C compilados a WebAssembly (WASM).</a:t>
            </a:r>
          </a:p>
          <a:p>
            <a:r>
              <a:t>- Antigravity 2.0: Asiste al estudiante y al docente descomponiendo el desarrollo en 5 fases modulares, formulando las ecuaciones de transporte molecular, optimizando la máquina de estados finitos (FSM) no bloqueante y guiando el procesamiento digital de señales (DSP).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Validación Virtual Integral: ¿Qué Podemos Simular?</a:t>
            </a:r>
          </a:p>
          <a:p>
            <a:r>
              <a:t>Prototipado completo sin gastar un solo céntimo en componentes físicos</a:t>
            </a:r>
          </a:p>
          <a:p/>
          <a:p>
            <a:r>
              <a:t>LOS 5 DOMINIOS SIMULADOS:</a:t>
            </a:r>
          </a:p>
          <a:p>
            <a:r>
              <a:t>1. Mecatrónica y Fluidos: Trenes de pulsos precisos para el driver A4988 y motor NEMA 17 para caudal volumétrico estricto.</a:t>
            </a:r>
          </a:p>
          <a:p>
            <a:r>
              <a:t>2. Cinética Química: Dispersión en banda cromatográfica, tiempos de retención y ensanchamiento difusivo.</a:t>
            </a:r>
          </a:p>
          <a:p>
            <a:r>
              <a:t>3. Ruido Instrumental: Ruido blanco estocástico gaussiano (algoritmo Box-Muller, sigma = 8 mV) y deriva de línea base.</a:t>
            </a:r>
          </a:p>
          <a:p>
            <a:r>
              <a:t>4. DSP en Tiempo Real: Filtro recursivo EMA (alpha = 0.20), detección de umbral de pendiente e integración trapezoidal.</a:t>
            </a:r>
          </a:p>
          <a:p>
            <a:r>
              <a:t>5. HMI y Telemetría: Pantalla OLED SSD1306 fluida y tramas CSV hacia el puerto serie para análisis en Python/MATLAB.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de Estudio: Micro-HPLC &amp; Sistema FIA Virtual</a:t>
            </a:r>
          </a:p>
          <a:p>
            <a:r>
              <a:t>Arquitectura completa del instrumento diseñado en el proyecto</a:t>
            </a:r>
          </a:p>
          <a:p/>
          <a:p>
            <a:r>
              <a:t>OBJETIVO ANALÍTICO:</a:t>
            </a:r>
          </a:p>
          <a:p>
            <a:r>
              <a:t>Separar y cuantificar una mezcla de dos xantinas naturales: Teobromina (tR ~ 12 s) y Cafeína (tR ~ 25 s).</a:t>
            </a:r>
          </a:p>
          <a:p/>
          <a:p>
            <a:r>
              <a:t>SUBSISTEMAS:</a:t>
            </a:r>
          </a:p>
          <a:p>
            <a:r>
              <a:t>- Bomba HPLC: NEMA 17 + Driver A4988 (D2 DIR, D3 STEP).</a:t>
            </a:r>
          </a:p>
          <a:p>
            <a:r>
              <a:t>- Válvula de Inyección: Pulso lógico TTL en Pin D4 (500 ms).</a:t>
            </a:r>
          </a:p>
          <a:p>
            <a:r>
              <a:t>- Detector Óptico: Custom Chip emulando celda UV-Vis a 272 nm en Pin A0 (0 a 5 V).</a:t>
            </a:r>
          </a:p>
          <a:p>
            <a:r>
              <a:t>- Controlador Central: Arduino Uno ejecutando FSM no bloqueante a 25 Hz.</a:t>
            </a:r>
          </a:p>
          <a:p>
            <a:r>
              <a:t>- HMI: OLED SSD1306 (I2C) y pulsadores START/CAL.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Corazón del Simulador: Wokwi Custom Chip en C</a:t>
            </a:r>
          </a:p>
          <a:p>
            <a:r>
              <a:t>Modelado físico de transporte molecular en código C / WebAssembly</a:t>
            </a:r>
          </a:p>
          <a:p/>
          <a:p>
            <a:r>
              <a:t>INGENIERÍA DEL CUSTOM CHIP:</a:t>
            </a:r>
          </a:p>
          <a:p>
            <a:r>
              <a:t>El chip corre código C nativo en el navegador mediante la API de Wokwi Chips.</a:t>
            </a:r>
          </a:p>
          <a:p>
            <a:r>
              <a:t>- Temporizador de precisión a 25 Hz (chip_timer_start).</a:t>
            </a:r>
          </a:p>
          <a:p>
            <a:r>
              <a:t>- Detección de flanco de inyección en pin INJ.</a:t>
            </a:r>
          </a:p>
          <a:p>
            <a:r>
              <a:t>- Perfil de elución gaussiano superpuesto con ruido estocástico Box-Muller.</a:t>
            </a:r>
          </a:p>
          <a:p>
            <a:r>
              <a:t>- Salida continua analógica vía pin_dac_write.</a:t>
            </a:r>
          </a:p>
          <a:p>
            <a:r>
              <a:t>Esto permite a los alumnos entender las leyes de transporte químico y programar simuladores por dentro.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Procesamiento Digital de Señales (DSP) y Validación Experimental</a:t>
            </a:r>
          </a:p>
          <a:p>
            <a:r>
              <a:t>Resultados de la corrida experimental real obtenida en Wokwi (35 s)</a:t>
            </a:r>
          </a:p>
          <a:p/>
          <a:p>
            <a:r>
              <a:t>DATOS EXPERIMENTALES CLAVE:</a:t>
            </a:r>
          </a:p>
          <a:p>
            <a:r>
              <a:t>- Línea base calibrada: Vbase = 0.4976 V.</a:t>
            </a:r>
          </a:p>
          <a:p>
            <a:r>
              <a:t>- Filtro EMA (alpha = 0.20): Suprime el ruido blanco sin retrasar los ápices.</a:t>
            </a:r>
          </a:p>
          <a:p>
            <a:r>
              <a:t>- Pico 1 (Teobromina): tR1 = 12.18 s, H1 = 1.785 V, Área = 4.791 V*s, Platos N1 = 75.</a:t>
            </a:r>
          </a:p>
          <a:p>
            <a:r>
              <a:t>- Pico 2 (Cafeína): tR2 = 25.16 s, H2 = 2.405 V, Área = 9.637 V*s, Platos N2 = 136.</a:t>
            </a:r>
          </a:p>
          <a:p>
            <a:r>
              <a:t>- Resolución cromatográfica: Rs = 1.83 (&gt;= 1.5, separación cuantitativa completa a línea base).</a:t>
            </a:r>
          </a:p>
          <a:p>
            <a:r>
              <a:t>La gráfica muestra los 2 paneles: señal completa arriba y absorbancia neta Delta V 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Guía de Prácticas de Laboratorio para los Alumnos</a:t>
            </a:r>
          </a:p>
          <a:p>
            <a:r>
              <a:t>Estructura pedagógica formal (docs/04_lab_manual.md)</a:t>
            </a:r>
          </a:p>
          <a:p/>
          <a:p>
            <a:r>
              <a:t>CONTENIDO DE LAS 5 PRÁCTICAS:</a:t>
            </a:r>
          </a:p>
          <a:p>
            <a:r>
              <a:t>- Práctica 1: Estabilidad de línea base, ruido RMS y cálculo de LOD (3s) y LOQ (10s).</a:t>
            </a:r>
          </a:p>
          <a:p>
            <a:r>
              <a:t>- Práctica 2: Identificación de analitos, dispersión en banda y cálculo de platos teóricos N y HETP.</a:t>
            </a:r>
          </a:p>
          <a:p>
            <a:r>
              <a:t>- Práctica 3: Cuantificación analítica mediante regla del trapecio en Python/Excel vs. cálculo del firmware.</a:t>
            </a:r>
          </a:p>
          <a:p>
            <a:r>
              <a:t>- Práctica 4: Resolución cromatográfica Rs y optimización de caudal según Van Deemter.</a:t>
            </a:r>
          </a:p>
          <a:p>
            <a:r>
              <a:t>- Práctica 5: Sensibilidad del filtro EMA ante variaciones de alpha (0.05 a 0.80).</a:t>
            </a:r>
          </a:p>
          <a:p>
            <a:r>
              <a:t>Incluye cuestionario de 6 preguntas analíticas y plantilla formal de informe.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 Gemelo Digital al Prototipo Físico Real</a:t>
            </a:r>
          </a:p>
          <a:p>
            <a:r>
              <a:t>¿Por qué la transición de Wokwi a hardware físico es 100% directa?</a:t>
            </a:r>
          </a:p>
          <a:p/>
          <a:p>
            <a:r>
              <a:t>TRANSFERENCIA DIRECTA 1:1:</a:t>
            </a:r>
          </a:p>
          <a:p>
            <a:r>
              <a:t>1. El firmware sketch.ino es idéntico y se graba en el Arduino Uno real sin cambios.</a:t>
            </a:r>
          </a:p>
          <a:p>
            <a:r>
              <a:t>2. El cableado coincide pin a pin con diagram.json.</a:t>
            </a:r>
          </a:p>
          <a:p>
            <a:r>
              <a:t>3. Sustitución de componentes virtuales:</a:t>
            </a:r>
          </a:p>
          <a:p>
            <a:r>
              <a:t>   - Bomba virtual -&gt; Motor NEMA 17 acoplado a husillo T8 empujando jeringa de 5 mL.</a:t>
            </a:r>
          </a:p>
          <a:p>
            <a:r>
              <a:t>   - Custom chip -&gt; Fotodiodo OPT101 / TSL257 frente a LED UV/azul (405 nm) a través de capilar de teflón.</a:t>
            </a:r>
          </a:p>
          <a:p>
            <a:r>
              <a:t>4. Cero riesgo: el código ya está 100% verificado y libre de bugs antes de encender la fuente.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Lista de Materiales (BOM) y Presupuesto Real en Amazon</a:t>
            </a:r>
          </a:p>
          <a:p>
            <a:r>
              <a:t>Construyendo un equipo analítico completo por ~74,40 €</a:t>
            </a:r>
          </a:p>
          <a:p/>
          <a:p>
            <a:r>
              <a:t>DESGLOSE DE COMPONENTES DISPONIBLES EN AMAZON (ENTREGA RÁPIDA):</a:t>
            </a:r>
          </a:p>
          <a:p>
            <a:r>
              <a:t>1. Arduino Uno R3 compatible: 9,50 €</a:t>
            </a:r>
          </a:p>
          <a:p>
            <a:r>
              <a:t>2. Pantalla OLED 0.96 I2C (128x64): 4,80 €</a:t>
            </a:r>
          </a:p>
          <a:p>
            <a:r>
              <a:t>3. Motor Paso a Paso NEMA 17 (1.5A): 12,50 €</a:t>
            </a:r>
          </a:p>
          <a:p>
            <a:r>
              <a:t>4. Driver A4988 con disipador: 2,90 €</a:t>
            </a:r>
          </a:p>
          <a:p>
            <a:r>
              <a:t>5. Sensor óptico OPT101 / TSL257: 6,50 €</a:t>
            </a:r>
          </a:p>
          <a:p>
            <a:r>
              <a:t>6. LED UV/Violeta 405 nm: 3,20 €</a:t>
            </a:r>
          </a:p>
          <a:p>
            <a:r>
              <a:t>7. Mecanismo de bomba jeringa T8 + varillas: 14,00 €</a:t>
            </a:r>
          </a:p>
          <a:p>
            <a:r>
              <a:t>8. Tubería capilar PTFE (2 m): 5,50 €</a:t>
            </a:r>
          </a:p>
          <a:p>
            <a:r>
              <a:t>9. Protoboard, cables y botones: 7,00 €</a:t>
            </a:r>
          </a:p>
          <a:p>
            <a:r>
              <a:t>10. Fuente 12V 2A DC: 8,50 €</a:t>
            </a:r>
          </a:p>
          <a:p>
            <a:r>
              <a:t>TOTAL ESTIMADO: ~74,40 € (frente a 25.000 € de un equipo comercial).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Análisis Comparativo: HPLC Comercial vs. Sistema LOC DIY</a:t>
            </a:r>
          </a:p>
          <a:p>
            <a:r>
              <a:t>Democratización radical del instrumental científico</a:t>
            </a:r>
          </a:p>
          <a:p/>
          <a:p>
            <a:r>
              <a:t>TABLA COMPARATIVA:</a:t>
            </a:r>
          </a:p>
          <a:p>
            <a:r>
              <a:t>- Coste: 25.000 €–80.000 € vs. 0 € (simulación) / 75 € (hardware).</a:t>
            </a:r>
          </a:p>
          <a:p>
            <a:r>
              <a:t>- Accesibilidad: 1 equipo para toda la clase vs. 1 gemelo digital por alumno en su portátil.</a:t>
            </a:r>
          </a:p>
          <a:p>
            <a:r>
              <a:t>- Transparencia: Software cerrado 'caja negra' vs. código abierto y transparente.</a:t>
            </a:r>
          </a:p>
          <a:p>
            <a:r>
              <a:t>- Mantenimiento: Muy costoso con servicio oficial vs. repuestos estándar de 5 € en Amazon.</a:t>
            </a:r>
          </a:p>
          <a:p>
            <a:r>
              <a:t>- Seguridad: Alta presión (&gt;100 bar) vs. baja presión segura (&lt;2 bar).</a:t>
            </a:r>
          </a:p>
          <a:p>
            <a:r>
              <a:t>El objetivo es la excelencia pedagógica y el aprendizaje activo de la instrumentación.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Conclusiones y Próximos Pasos</a:t>
            </a:r>
          </a:p>
          <a:p>
            <a:r>
              <a:t>Una nueva era en la enseñanza de bioelectrónica e instrumentación</a:t>
            </a:r>
          </a:p>
          <a:p/>
          <a:p>
            <a:r>
              <a:t>RESUMEN Y LLAMADA A LA ACCIÓN:</a:t>
            </a:r>
          </a:p>
          <a:p>
            <a:r>
              <a:t>1. Demostramos que es viable simular sistemas físico-químicos complejos en Wokwi.</a:t>
            </a:r>
          </a:p>
          <a:p>
            <a:r>
              <a:t>2. La inteligencia artificial (Antigravity 2.0) actúa como multiplicador pedagógico.</a:t>
            </a:r>
          </a:p>
          <a:p>
            <a:r>
              <a:t>3. El proyecto está disponible en Wokwi para ser clonado y ejecutado en un clic:</a:t>
            </a:r>
          </a:p>
          <a:p>
            <a:r>
              <a:t>   https://wokwi.com/projects/477384442337984513</a:t>
            </a:r>
          </a:p>
          <a:p>
            <a:r>
              <a:t>4. Próxima evolución: Impresión 3D del chasis y migración a ESP32 para IoT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